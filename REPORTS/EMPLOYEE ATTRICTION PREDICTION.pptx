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30"/>
  </p:notesMasterIdLst>
  <p:handoutMasterIdLst>
    <p:handoutMasterId r:id="rId31"/>
  </p:handoutMasterIdLst>
  <p:sldIdLst>
    <p:sldId id="289" r:id="rId5"/>
    <p:sldId id="290" r:id="rId6"/>
    <p:sldId id="276" r:id="rId7"/>
    <p:sldId id="288" r:id="rId8"/>
    <p:sldId id="283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261" r:id="rId27"/>
    <p:sldId id="308" r:id="rId28"/>
    <p:sldId id="26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694" autoAdjust="0"/>
  </p:normalViewPr>
  <p:slideViewPr>
    <p:cSldViewPr snapToGrid="0">
      <p:cViewPr varScale="1">
        <p:scale>
          <a:sx n="78" d="100"/>
          <a:sy n="78" d="100"/>
        </p:scale>
        <p:origin x="108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6" r:id="rId17"/>
    <p:sldLayoutId id="2147483687" r:id="rId18"/>
    <p:sldLayoutId id="2147483690" r:id="rId19"/>
    <p:sldLayoutId id="2147483691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uragopal-mohapatra" TargetMode="External"/><Relationship Id="rId2" Type="http://schemas.openxmlformats.org/officeDocument/2006/relationships/hyperlink" Target="mailto:gmohapatra.info.3107@gmail.com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468" y="486137"/>
            <a:ext cx="5427584" cy="4567644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🏢 EMPLOYEE ATTRITION PREDICTION Using Decision Trees &amp; Random Forests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E2C4-7935-0AD2-416C-80583FCD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25677"/>
            <a:ext cx="10515600" cy="1278194"/>
          </a:xfrm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– GOURAGOPAL MOHAPATRA</a:t>
            </a:r>
            <a:b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</a:t>
            </a: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</a:rPr>
              <a:t>- </a:t>
            </a: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Engineer | Data Science Enthusiast</a:t>
            </a:r>
            <a:b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– JANUARY 2026</a:t>
            </a:r>
            <a:endParaRPr lang="en-IN" sz="32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42648-2071-961B-C7E8-15D57BF6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549445"/>
            <a:ext cx="10515600" cy="2045111"/>
          </a:xfrm>
        </p:spPr>
        <p:txBody>
          <a:bodyPr/>
          <a:lstStyle/>
          <a:p>
            <a:r>
              <a:rPr lang="en-GB" sz="3200" b="1" i="1" dirty="0">
                <a:solidFill>
                  <a:schemeClr val="accent4">
                    <a:lumMod val="50000"/>
                  </a:schemeClr>
                </a:solidFill>
                <a:latin typeface="+mj-lt"/>
              </a:rPr>
              <a:t>“Artificial intelligence is not about replacing humans; it’s about engineering systems that augment human intelligence and solve problems at scales we never imagined.”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08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GB" sz="3600" b="1" dirty="0"/>
              <a:t>"Machine learning is the science of getting computers to learn without being explicitly programmed." — Andrew Ng </a:t>
            </a:r>
            <a:br>
              <a:rPr lang="en-GB" sz="3600" b="1" dirty="0"/>
            </a:br>
            <a:r>
              <a:rPr lang="en-GB" sz="3600" b="1" dirty="0"/>
              <a:t>🤖 Empowering Data-Driven Decisions</a:t>
            </a:r>
            <a:endParaRPr lang="en-US" sz="3600" b="1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2671" y="509286"/>
            <a:ext cx="4444181" cy="5617194"/>
          </a:xfrm>
          <a:noFill/>
        </p:spPr>
        <p:txBody>
          <a:bodyPr anchor="ctr">
            <a:noAutofit/>
          </a:bodyPr>
          <a:lstStyle/>
          <a:p>
            <a:r>
              <a:rPr lang="en-US" sz="1700" b="1" dirty="0"/>
              <a:t>📑 TABLE OF CONTENTS</a:t>
            </a:r>
          </a:p>
          <a:p>
            <a:r>
              <a:rPr lang="en-US" sz="1700" b="1" dirty="0"/>
              <a:t>1. Introduction &amp; Problem Statement</a:t>
            </a:r>
          </a:p>
          <a:p>
            <a:r>
              <a:rPr lang="en-US" sz="1700" b="1" dirty="0"/>
              <a:t>2. Dataset Overview &amp; Methodology</a:t>
            </a:r>
          </a:p>
          <a:p>
            <a:r>
              <a:rPr lang="en-US" sz="1700" b="1" dirty="0"/>
              <a:t>3. Exploratory Data Analysis</a:t>
            </a:r>
          </a:p>
          <a:p>
            <a:r>
              <a:rPr lang="en-US" sz="1700" b="1" dirty="0"/>
              <a:t>4. Feature Analysis (Numerical, Categorical, Satisfaction)</a:t>
            </a:r>
          </a:p>
          <a:p>
            <a:r>
              <a:rPr lang="en-US" sz="1700" b="1" dirty="0"/>
              <a:t>5. Baseline Decision Tree Model</a:t>
            </a:r>
          </a:p>
          <a:p>
            <a:r>
              <a:rPr lang="en-US" sz="1700" b="1" dirty="0"/>
              <a:t>6. Overfitting Analysis &amp; Bias-Variance Tradeoff</a:t>
            </a:r>
          </a:p>
          <a:p>
            <a:r>
              <a:rPr lang="en-US" sz="1700" b="1" dirty="0"/>
              <a:t>7. Random Forest Introduction &amp; Performance</a:t>
            </a:r>
          </a:p>
          <a:p>
            <a:r>
              <a:rPr lang="en-US" sz="1700" b="1" dirty="0"/>
              <a:t>8. Hyperparameter Tuning &amp; Optimization</a:t>
            </a:r>
          </a:p>
          <a:p>
            <a:r>
              <a:rPr lang="en-US" sz="1700" b="1" dirty="0"/>
              <a:t>9. Final Model Results &amp; Comparison</a:t>
            </a:r>
          </a:p>
          <a:p>
            <a:r>
              <a:rPr lang="en-US" sz="1700" b="1" dirty="0"/>
              <a:t>10. Key Insights &amp; Recommendations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796413"/>
            <a:ext cx="5028566" cy="845574"/>
          </a:xfrm>
          <a:noFill/>
        </p:spPr>
        <p:txBody>
          <a:bodyPr>
            <a:noAutofit/>
          </a:bodyPr>
          <a:lstStyle/>
          <a:p>
            <a:r>
              <a:rPr lang="en-IN" sz="4800" dirty="0">
                <a:solidFill>
                  <a:schemeClr val="accent4">
                    <a:lumMod val="50000"/>
                  </a:schemeClr>
                </a:solidFill>
              </a:rPr>
              <a:t>INTRODUCTION</a:t>
            </a:r>
            <a:endParaRPr lang="en-US" sz="4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072" y="1838632"/>
            <a:ext cx="5028565" cy="4084332"/>
          </a:xfrm>
          <a:noFill/>
        </p:spPr>
        <p:txBody>
          <a:bodyPr anchor="t"/>
          <a:lstStyle/>
          <a:p>
            <a:r>
              <a:rPr lang="en-US" dirty="0"/>
              <a:t>📊 </a:t>
            </a:r>
            <a:r>
              <a:rPr lang="en-US" dirty="0">
                <a:solidFill>
                  <a:srgbClr val="FF0000"/>
                </a:solidFill>
              </a:rPr>
              <a:t>PROJECT OVERVIEW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- Predict employee attrition using ML algorithms</a:t>
            </a:r>
          </a:p>
          <a:p>
            <a:r>
              <a:rPr lang="en-US" dirty="0">
                <a:solidFill>
                  <a:srgbClr val="FF0000"/>
                </a:solidFill>
              </a:rPr>
              <a:t>- Dataset: 1,470 employees with 35 features</a:t>
            </a:r>
          </a:p>
          <a:p>
            <a:r>
              <a:rPr lang="en-US" dirty="0">
                <a:solidFill>
                  <a:srgbClr val="FF0000"/>
                </a:solidFill>
              </a:rPr>
              <a:t>- Objective: Build production-ready predictive model</a:t>
            </a:r>
          </a:p>
          <a:p>
            <a:r>
              <a:rPr lang="en-US" dirty="0">
                <a:solidFill>
                  <a:srgbClr val="FF0000"/>
                </a:solidFill>
              </a:rPr>
              <a:t>- Techniques: Decision Trees, Random Forests</a:t>
            </a:r>
          </a:p>
          <a:p>
            <a:r>
              <a:rPr lang="en-US" dirty="0">
                <a:solidFill>
                  <a:srgbClr val="FF0000"/>
                </a:solidFill>
              </a:rPr>
              <a:t>- Tools: Python, Scikit-learn, Pandas, </a:t>
            </a:r>
            <a:r>
              <a:rPr lang="en-US" dirty="0" err="1">
                <a:solidFill>
                  <a:srgbClr val="FF0000"/>
                </a:solidFill>
              </a:rPr>
              <a:t>Jupyter</a:t>
            </a:r>
            <a:r>
              <a:rPr lang="en-US" dirty="0">
                <a:solidFill>
                  <a:srgbClr val="FF0000"/>
                </a:solidFill>
              </a:rPr>
              <a:t> Notebook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43FC-68B2-8D5C-F83C-F3781B96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900347-0616-2234-E764-8A62ABC350FB}"/>
              </a:ext>
            </a:extLst>
          </p:cNvPr>
          <p:cNvSpPr/>
          <p:nvPr/>
        </p:nvSpPr>
        <p:spPr>
          <a:xfrm>
            <a:off x="1143000" y="1730477"/>
            <a:ext cx="10001865" cy="41885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rgbClr val="FF0000"/>
                </a:solidFill>
              </a:rPr>
              <a:t>❓ BUSINESS PROBLEM</a:t>
            </a:r>
          </a:p>
          <a:p>
            <a:pPr algn="ctr"/>
            <a:endParaRPr lang="en-GB" sz="3600" dirty="0">
              <a:solidFill>
                <a:srgbClr val="FF0000"/>
              </a:solidFill>
            </a:endParaRPr>
          </a:p>
          <a:p>
            <a:pPr algn="ctr"/>
            <a:r>
              <a:rPr lang="en-GB" sz="3600" dirty="0">
                <a:solidFill>
                  <a:srgbClr val="FF0000"/>
                </a:solidFill>
              </a:rPr>
              <a:t>- Employee turnover costs companies 33% of annual salary</a:t>
            </a:r>
          </a:p>
          <a:p>
            <a:pPr algn="ctr"/>
            <a:r>
              <a:rPr lang="en-GB" sz="3600" dirty="0">
                <a:solidFill>
                  <a:srgbClr val="FF0000"/>
                </a:solidFill>
              </a:rPr>
              <a:t>- HR needs to identify at-risk employees proactively</a:t>
            </a:r>
          </a:p>
          <a:p>
            <a:pPr algn="ctr"/>
            <a:r>
              <a:rPr lang="en-GB" sz="3600" dirty="0">
                <a:solidFill>
                  <a:srgbClr val="FF0000"/>
                </a:solidFill>
              </a:rPr>
              <a:t>- Current methods: Reactive, inefficient</a:t>
            </a:r>
          </a:p>
          <a:p>
            <a:pPr algn="ctr"/>
            <a:r>
              <a:rPr lang="en-GB" sz="3600" dirty="0">
                <a:solidFill>
                  <a:srgbClr val="FF0000"/>
                </a:solidFill>
              </a:rPr>
              <a:t>- Solution: Predictive ML model for early detection</a:t>
            </a:r>
          </a:p>
          <a:p>
            <a:pPr algn="ctr"/>
            <a:r>
              <a:rPr lang="en-GB" sz="3600" dirty="0">
                <a:solidFill>
                  <a:srgbClr val="FF0000"/>
                </a:solidFill>
              </a:rPr>
              <a:t>- Impact: Reduce turnover, save costs, improve retention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11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EB72-5EBD-2693-0C80-3B93B3C6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DATASET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DBFB7-7682-ABDE-88C0-183EF4622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📁 DATASET CHARACTERISTICS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36D7C-E57F-32D1-3C6A-7D17178D7E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- Total Records: 1,470 employees </a:t>
            </a:r>
          </a:p>
          <a:p>
            <a:r>
              <a:rPr lang="en-GB" dirty="0"/>
              <a:t>- Features: 35 columns </a:t>
            </a:r>
          </a:p>
          <a:p>
            <a:r>
              <a:rPr lang="en-GB" dirty="0"/>
              <a:t>- Target Variable: Attrition (Yes/No) </a:t>
            </a:r>
          </a:p>
          <a:p>
            <a:r>
              <a:rPr lang="en-GB" dirty="0"/>
              <a:t>- Numerical Features: 14 (Age, Income, Years, etc.) </a:t>
            </a:r>
          </a:p>
          <a:p>
            <a:r>
              <a:rPr lang="en-GB" dirty="0"/>
              <a:t>- Ordinal Features: 9 (Satisfaction levels, Job Level) </a:t>
            </a:r>
          </a:p>
          <a:p>
            <a:r>
              <a:rPr lang="en-GB" dirty="0"/>
              <a:t>- Categorical Features: 7 (Department, Role, Gender) </a:t>
            </a:r>
          </a:p>
          <a:p>
            <a:r>
              <a:rPr lang="en-GB" dirty="0"/>
              <a:t>- Missing Values: None - Class Imbalance: 16.1% attrition rate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DAE708-50D3-6083-280F-C92D65E74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FEATURE TYPES BREAKDOWN TABLE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AAAF9CE-DA32-59CD-8765-F0F9F1B4734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222281519"/>
              </p:ext>
            </p:extLst>
          </p:nvPr>
        </p:nvGraphicFramePr>
        <p:xfrm>
          <a:off x="6172200" y="2557462"/>
          <a:ext cx="5183187" cy="322113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727729">
                  <a:extLst>
                    <a:ext uri="{9D8B030D-6E8A-4147-A177-3AD203B41FA5}">
                      <a16:colId xmlns:a16="http://schemas.microsoft.com/office/drawing/2014/main" val="510671775"/>
                    </a:ext>
                  </a:extLst>
                </a:gridCol>
                <a:gridCol w="1727729">
                  <a:extLst>
                    <a:ext uri="{9D8B030D-6E8A-4147-A177-3AD203B41FA5}">
                      <a16:colId xmlns:a16="http://schemas.microsoft.com/office/drawing/2014/main" val="3215167609"/>
                    </a:ext>
                  </a:extLst>
                </a:gridCol>
                <a:gridCol w="1727729">
                  <a:extLst>
                    <a:ext uri="{9D8B030D-6E8A-4147-A177-3AD203B41FA5}">
                      <a16:colId xmlns:a16="http://schemas.microsoft.com/office/drawing/2014/main" val="1339842995"/>
                    </a:ext>
                  </a:extLst>
                </a:gridCol>
              </a:tblGrid>
              <a:tr h="540595">
                <a:tc>
                  <a:txBody>
                    <a:bodyPr/>
                    <a:lstStyle/>
                    <a:p>
                      <a:r>
                        <a:rPr lang="en-IN" dirty="0"/>
                        <a:t>Feature Type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097290"/>
                  </a:ext>
                </a:extLst>
              </a:tr>
              <a:tr h="54059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Numerical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Age, Monthly Income, Years At Company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274918"/>
                  </a:ext>
                </a:extLst>
              </a:tr>
              <a:tr h="25554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Ordinal Features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Job Satisfaction, Work Life Balance, Job Level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81311"/>
                  </a:ext>
                </a:extLst>
              </a:tr>
              <a:tr h="54059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Categorical Features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Department, Job Role, Gender, Marital Status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756133"/>
                  </a:ext>
                </a:extLst>
              </a:tr>
              <a:tr h="54059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Target Variable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Attrition (Yes/No)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841250"/>
                  </a:ext>
                </a:extLst>
              </a:tr>
              <a:tr h="540595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TOTAL FEATURES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(After removing 4 constant)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70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917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8AA1-2AC7-B421-1892-841F1798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chemeClr val="accent4">
                    <a:lumMod val="75000"/>
                  </a:schemeClr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A9FC7-00CA-2E7E-6574-E4FE7C562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82994"/>
            <a:ext cx="9906000" cy="44509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🔬 PROJECT WORKFLOW</a:t>
            </a:r>
          </a:p>
          <a:p>
            <a:endParaRPr lang="en-IN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1️⃣ Data Exploration (Notebook 01)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2️⃣ Feature Analysis (Notebook 02)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3️⃣ Baseline Decision Tree (Notebook 03)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4️⃣ Overfitting Analysis (Notebook 04)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5️⃣ Random Forest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Modeling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(Notebook 05)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6️⃣ Final Model Tuning (Notebook 06)</a:t>
            </a:r>
          </a:p>
          <a:p>
            <a:endParaRPr lang="en-IN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- Total: 6 comprehensive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</a:rPr>
              <a:t>Jupyter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notebooks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- Saved: 7 trained models, 11+ processed datasets</a:t>
            </a:r>
          </a:p>
        </p:txBody>
      </p:sp>
    </p:spTree>
    <p:extLst>
      <p:ext uri="{BB962C8B-B14F-4D97-AF65-F5344CB8AC3E}">
        <p14:creationId xmlns:p14="http://schemas.microsoft.com/office/powerpoint/2010/main" val="193684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C886-E8D0-04F6-FBD9-31826503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EXPLORATORY 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69551-2961-0BD9-4D7D-F739EEB47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654914"/>
          </a:xfrm>
        </p:spPr>
        <p:txBody>
          <a:bodyPr>
            <a:normAutofit/>
          </a:bodyPr>
          <a:lstStyle/>
          <a:p>
            <a:r>
              <a:rPr lang="en-IN" sz="3600" dirty="0"/>
              <a:t>🔍 KEY EDA INSIGHTS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98662-06D3-C18E-135B-38B034D62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89239"/>
            <a:ext cx="5157787" cy="3853586"/>
          </a:xfrm>
        </p:spPr>
        <p:txBody>
          <a:bodyPr>
            <a:normAutofit fontScale="92500"/>
          </a:bodyPr>
          <a:lstStyle/>
          <a:p>
            <a:r>
              <a:rPr lang="en-IN" dirty="0"/>
              <a:t>🔍 KEY EDA INSIGHTS</a:t>
            </a:r>
          </a:p>
          <a:p>
            <a:endParaRPr lang="en-IN" dirty="0"/>
          </a:p>
          <a:p>
            <a:r>
              <a:rPr lang="en-IN" dirty="0"/>
              <a:t>- No missing values detected - clean dataset</a:t>
            </a:r>
          </a:p>
          <a:p>
            <a:r>
              <a:rPr lang="en-IN" dirty="0"/>
              <a:t>- Class imbalance: 84% No, 16% Yes attrition</a:t>
            </a:r>
          </a:p>
          <a:p>
            <a:r>
              <a:rPr lang="en-IN" dirty="0"/>
              <a:t>- Constant columns removed: 4 features</a:t>
            </a:r>
          </a:p>
          <a:p>
            <a:r>
              <a:rPr lang="en-IN" dirty="0"/>
              <a:t>- Numerical features show varied distributions</a:t>
            </a:r>
          </a:p>
          <a:p>
            <a:r>
              <a:rPr lang="en-IN" dirty="0"/>
              <a:t>- Categorical features have clear patterns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28253-4A68-A98D-BE57-1B4945C75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Attrition Distribution (Bar Chart)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01888D-BA38-F244-FA9B-A938CBC0C08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92312"/>
            <a:ext cx="5183188" cy="3214888"/>
          </a:xfrm>
        </p:spPr>
      </p:pic>
    </p:spTree>
    <p:extLst>
      <p:ext uri="{BB962C8B-B14F-4D97-AF65-F5344CB8AC3E}">
        <p14:creationId xmlns:p14="http://schemas.microsoft.com/office/powerpoint/2010/main" val="195938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C0419-63C0-8425-9CEB-0D0A69B2D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 ANALYSIS - NUMERICAL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65503-0B7D-1F1A-484E-9F7543588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200" dirty="0"/>
              <a:t>📈 NUMERICAL FEATURES VS ATTRITION</a:t>
            </a:r>
            <a:endParaRPr lang="en-IN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40FA8-01EA-8E46-214E-332C3A8F92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GB" dirty="0">
                <a:solidFill>
                  <a:srgbClr val="FF0000"/>
                </a:solidFill>
              </a:rPr>
              <a:t>Key Findings: </a:t>
            </a:r>
          </a:p>
          <a:p>
            <a:r>
              <a:rPr lang="en-GB" dirty="0">
                <a:solidFill>
                  <a:srgbClr val="FF0000"/>
                </a:solidFill>
              </a:rPr>
              <a:t>- Lower Monthly Income → Higher Attrition</a:t>
            </a:r>
          </a:p>
          <a:p>
            <a:r>
              <a:rPr lang="en-GB" dirty="0">
                <a:solidFill>
                  <a:srgbClr val="FF0000"/>
                </a:solidFill>
              </a:rPr>
              <a:t> - Younger Age → Higher Attrition </a:t>
            </a:r>
          </a:p>
          <a:p>
            <a:r>
              <a:rPr lang="en-GB" dirty="0">
                <a:solidFill>
                  <a:srgbClr val="FF0000"/>
                </a:solidFill>
              </a:rPr>
              <a:t>- Fewer Years in Current Role → Higher Attrition </a:t>
            </a:r>
          </a:p>
          <a:p>
            <a:r>
              <a:rPr lang="en-GB" dirty="0">
                <a:solidFill>
                  <a:srgbClr val="FF0000"/>
                </a:solidFill>
              </a:rPr>
              <a:t>- Less Total Working Years → Higher Attrition </a:t>
            </a:r>
          </a:p>
          <a:p>
            <a:r>
              <a:rPr lang="en-GB" dirty="0">
                <a:solidFill>
                  <a:srgbClr val="FF0000"/>
                </a:solidFill>
              </a:rPr>
              <a:t>- Greater Distance from Home → Moderate Impact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161A3-E2F0-BB58-E5E0-C0280AC01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IN" sz="2600" dirty="0"/>
              <a:t>Numerical Features Boxplots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55EA57-173E-5F0D-ECFB-BA59E7EC7A0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297" y="2557463"/>
            <a:ext cx="5054994" cy="3528705"/>
          </a:xfrm>
        </p:spPr>
      </p:pic>
    </p:spTree>
    <p:extLst>
      <p:ext uri="{BB962C8B-B14F-4D97-AF65-F5344CB8AC3E}">
        <p14:creationId xmlns:p14="http://schemas.microsoft.com/office/powerpoint/2010/main" val="165096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B1E8-29A6-E485-5850-7DCE3005E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 ANALYSIS - CATEGORICAL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4290D-BC63-7031-8FBB-1380D06A8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2200" dirty="0"/>
              <a:t>🏷️ CATEGORICAL FEATURES VS ATTRITION</a:t>
            </a:r>
            <a:endParaRPr lang="en-IN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13693-F191-70AF-4FC2-83D753BA35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Critical Insights: </a:t>
            </a:r>
          </a:p>
          <a:p>
            <a:r>
              <a:rPr lang="en-GB" dirty="0">
                <a:solidFill>
                  <a:srgbClr val="FF0000"/>
                </a:solidFill>
              </a:rPr>
              <a:t>- </a:t>
            </a:r>
            <a:r>
              <a:rPr lang="en-GB" dirty="0" err="1">
                <a:solidFill>
                  <a:srgbClr val="FF0000"/>
                </a:solidFill>
              </a:rPr>
              <a:t>OverTime</a:t>
            </a:r>
            <a:r>
              <a:rPr lang="en-GB" dirty="0">
                <a:solidFill>
                  <a:srgbClr val="FF0000"/>
                </a:solidFill>
              </a:rPr>
              <a:t> = Yes → 30% attrition (vs 10% for No) </a:t>
            </a:r>
          </a:p>
          <a:p>
            <a:r>
              <a:rPr lang="en-GB" dirty="0">
                <a:solidFill>
                  <a:srgbClr val="FF0000"/>
                </a:solidFill>
              </a:rPr>
              <a:t>- Sales Representatives → Highest attrition by role</a:t>
            </a:r>
          </a:p>
          <a:p>
            <a:r>
              <a:rPr lang="en-GB" dirty="0">
                <a:solidFill>
                  <a:srgbClr val="FF0000"/>
                </a:solidFill>
              </a:rPr>
              <a:t> - Laboratory Technicians → Second highest </a:t>
            </a:r>
          </a:p>
          <a:p>
            <a:r>
              <a:rPr lang="en-GB" dirty="0">
                <a:solidFill>
                  <a:srgbClr val="FF0000"/>
                </a:solidFill>
              </a:rPr>
              <a:t>- Single employees → Higher attrition than married</a:t>
            </a:r>
          </a:p>
          <a:p>
            <a:r>
              <a:rPr lang="en-GB" dirty="0">
                <a:solidFill>
                  <a:srgbClr val="FF0000"/>
                </a:solidFill>
              </a:rPr>
              <a:t> - Department: R&amp;D has most employees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2FEC1-9A8A-34DB-055E-E916822BE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674578"/>
          </a:xfrm>
        </p:spPr>
        <p:txBody>
          <a:bodyPr>
            <a:normAutofit/>
          </a:bodyPr>
          <a:lstStyle/>
          <a:p>
            <a:r>
              <a:rPr lang="en-IN" sz="2800" dirty="0" err="1"/>
              <a:t>OverTime</a:t>
            </a:r>
            <a:r>
              <a:rPr lang="en-IN" sz="2800" dirty="0"/>
              <a:t> vs Attrition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5BDCF21-777B-7128-64E5-3B4D447D3BC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000" y="2557463"/>
            <a:ext cx="5169587" cy="3684587"/>
          </a:xfrm>
        </p:spPr>
      </p:pic>
    </p:spTree>
    <p:extLst>
      <p:ext uri="{BB962C8B-B14F-4D97-AF65-F5344CB8AC3E}">
        <p14:creationId xmlns:p14="http://schemas.microsoft.com/office/powerpoint/2010/main" val="357556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CA2D-026E-6483-A0C9-2E7D84A4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42" y="358877"/>
            <a:ext cx="3932237" cy="1600200"/>
          </a:xfrm>
        </p:spPr>
        <p:txBody>
          <a:bodyPr/>
          <a:lstStyle/>
          <a:p>
            <a:r>
              <a:rPr lang="en-IN" b="1" dirty="0"/>
              <a:t>FEATURE ANALYSIS - SATISFACTION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A1C997A-56D7-D693-91F4-9E65AB44AFC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7" r="4867"/>
          <a:stretch>
            <a:fillRect/>
          </a:stretch>
        </p:blipFill>
        <p:spPr>
          <a:xfrm>
            <a:off x="5183188" y="987425"/>
            <a:ext cx="5848606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8F07A-1EC1-E5A3-BB25-793563D6F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77962"/>
            <a:ext cx="3932237" cy="3795252"/>
          </a:xfrm>
        </p:spPr>
        <p:txBody>
          <a:bodyPr>
            <a:noAutofit/>
          </a:bodyPr>
          <a:lstStyle/>
          <a:p>
            <a:r>
              <a:rPr lang="en-IN" sz="2000" dirty="0"/>
              <a:t>😊 SATISFACTION METRICS IMPACT</a:t>
            </a:r>
          </a:p>
          <a:p>
            <a:r>
              <a:rPr lang="en-IN" sz="2000" dirty="0"/>
              <a:t> - Low Job Satisfaction → Significantly higher attrition</a:t>
            </a:r>
          </a:p>
          <a:p>
            <a:r>
              <a:rPr lang="en-IN" sz="2000" dirty="0"/>
              <a:t> - Poor Work-Life Balance → Strong attrition predictor</a:t>
            </a:r>
          </a:p>
          <a:p>
            <a:r>
              <a:rPr lang="en-IN" sz="2000" dirty="0"/>
              <a:t> - Low Environment Satisfaction → Increased turnover </a:t>
            </a:r>
          </a:p>
          <a:p>
            <a:pPr marL="285750" indent="-285750">
              <a:buFontTx/>
              <a:buChar char="-"/>
            </a:pPr>
            <a:r>
              <a:rPr lang="en-IN" sz="2000" dirty="0"/>
              <a:t>Low Job Involvement → Critical warning sign</a:t>
            </a:r>
          </a:p>
          <a:p>
            <a:r>
              <a:rPr lang="en-IN" sz="2000" dirty="0"/>
              <a:t> - Entry-level positions → Higher turnover rates</a:t>
            </a:r>
          </a:p>
        </p:txBody>
      </p:sp>
    </p:spTree>
    <p:extLst>
      <p:ext uri="{BB962C8B-B14F-4D97-AF65-F5344CB8AC3E}">
        <p14:creationId xmlns:p14="http://schemas.microsoft.com/office/powerpoint/2010/main" val="58825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4980-3B56-E3A3-561B-12AD066D0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1388970"/>
          </a:xfrm>
        </p:spPr>
        <p:txBody>
          <a:bodyPr/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BASELINE DECISION TREE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C42C42-01CE-D417-7CDC-1128CD89B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072" y="1917290"/>
            <a:ext cx="6030679" cy="3883742"/>
          </a:xfrm>
        </p:spPr>
        <p:txBody>
          <a:bodyPr/>
          <a:lstStyle/>
          <a:p>
            <a:r>
              <a:rPr lang="en-IN" dirty="0"/>
              <a:t>🌳</a:t>
            </a:r>
            <a:r>
              <a:rPr lang="en-IN" dirty="0">
                <a:solidFill>
                  <a:srgbClr val="FF0000"/>
                </a:solidFill>
              </a:rPr>
              <a:t> DECISION TREE - INITIAL MODEL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Performance Metrics:</a:t>
            </a:r>
          </a:p>
          <a:p>
            <a:r>
              <a:rPr lang="en-IN" dirty="0">
                <a:solidFill>
                  <a:srgbClr val="FF0000"/>
                </a:solidFill>
              </a:rPr>
              <a:t>- Training Accuracy: 100% (overfitting detected!)</a:t>
            </a:r>
          </a:p>
          <a:p>
            <a:r>
              <a:rPr lang="en-IN" dirty="0">
                <a:solidFill>
                  <a:srgbClr val="FF0000"/>
                </a:solidFill>
              </a:rPr>
              <a:t>- Test Accuracy: 82-85%</a:t>
            </a:r>
          </a:p>
          <a:p>
            <a:r>
              <a:rPr lang="en-IN" dirty="0">
                <a:solidFill>
                  <a:srgbClr val="FF0000"/>
                </a:solidFill>
              </a:rPr>
              <a:t>- Train-Test Gap: 15-18% (severe overfitting)</a:t>
            </a:r>
          </a:p>
          <a:p>
            <a:r>
              <a:rPr lang="en-IN" dirty="0">
                <a:solidFill>
                  <a:srgbClr val="FF0000"/>
                </a:solidFill>
              </a:rPr>
              <a:t>- Tree Depth: 20+ levels (too complex)</a:t>
            </a:r>
          </a:p>
          <a:p>
            <a:r>
              <a:rPr lang="en-IN" dirty="0">
                <a:solidFill>
                  <a:srgbClr val="FF0000"/>
                </a:solidFill>
              </a:rPr>
              <a:t>- F1-Score: Low on minority class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Problem Identified: High Variance, Memorization</a:t>
            </a:r>
          </a:p>
        </p:txBody>
      </p:sp>
      <p:pic>
        <p:nvPicPr>
          <p:cNvPr id="6" name="Picture Placeholder 5" descr="Blue glass building">
            <a:extLst>
              <a:ext uri="{FF2B5EF4-FFF2-40B4-BE49-F238E27FC236}">
                <a16:creationId xmlns:a16="http://schemas.microsoft.com/office/drawing/2014/main" id="{A6ABFB95-B9CB-A51F-5DB6-A1A5271E026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1" r="26131"/>
          <a:stretch>
            <a:fillRect/>
          </a:stretch>
        </p:blipFill>
        <p:spPr>
          <a:xfrm>
            <a:off x="7245751" y="-22860"/>
            <a:ext cx="4946249" cy="6903720"/>
          </a:xfrm>
        </p:spPr>
      </p:pic>
    </p:spTree>
    <p:extLst>
      <p:ext uri="{BB962C8B-B14F-4D97-AF65-F5344CB8AC3E}">
        <p14:creationId xmlns:p14="http://schemas.microsoft.com/office/powerpoint/2010/main" val="176184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168B-4A69-487C-95E2-D164CD8D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OVERFITTING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ECA629-990C-2EB7-0FC2-A20EBE11D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892867"/>
            <a:ext cx="6172200" cy="306274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943DC-65BA-C2A1-71A8-B0388681D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IN" sz="1800" dirty="0">
                <a:solidFill>
                  <a:srgbClr val="FF0000"/>
                </a:solidFill>
              </a:rPr>
              <a:t>⚠️ BIAS-VARIANCE TRADEOFF</a:t>
            </a:r>
          </a:p>
          <a:p>
            <a:r>
              <a:rPr lang="en-IN" sz="1800" dirty="0">
                <a:solidFill>
                  <a:srgbClr val="FF0000"/>
                </a:solidFill>
              </a:rPr>
              <a:t>Experiment: Trees with depth 1-25</a:t>
            </a:r>
          </a:p>
          <a:p>
            <a:r>
              <a:rPr lang="en-IN" sz="1800" dirty="0">
                <a:solidFill>
                  <a:srgbClr val="FF0000"/>
                </a:solidFill>
              </a:rPr>
              <a:t>- Depth 1-3: Underfitting (High Bias)</a:t>
            </a:r>
          </a:p>
          <a:p>
            <a:r>
              <a:rPr lang="en-IN" sz="1800" dirty="0">
                <a:solidFill>
                  <a:srgbClr val="FF0000"/>
                </a:solidFill>
              </a:rPr>
              <a:t>- Depth 4-7: Sweet Spot ✅ (Balanced)</a:t>
            </a:r>
          </a:p>
          <a:p>
            <a:r>
              <a:rPr lang="en-IN" sz="1800" dirty="0">
                <a:solidFill>
                  <a:srgbClr val="FF0000"/>
                </a:solidFill>
              </a:rPr>
              <a:t>- Depth 15+: Overfitting (High Variance)</a:t>
            </a:r>
          </a:p>
          <a:p>
            <a:endParaRPr lang="en-IN" sz="1800" dirty="0">
              <a:solidFill>
                <a:srgbClr val="FF0000"/>
              </a:solidFill>
            </a:endParaRPr>
          </a:p>
          <a:p>
            <a:r>
              <a:rPr lang="en-IN" sz="1800" dirty="0">
                <a:solidFill>
                  <a:srgbClr val="FF0000"/>
                </a:solidFill>
              </a:rPr>
              <a:t>Optimal Depth Found: 5</a:t>
            </a:r>
          </a:p>
          <a:p>
            <a:r>
              <a:rPr lang="en-IN" sz="1800" dirty="0">
                <a:solidFill>
                  <a:srgbClr val="FF0000"/>
                </a:solidFill>
              </a:rPr>
              <a:t>- Test Accuracy: 85-87%</a:t>
            </a:r>
          </a:p>
          <a:p>
            <a:r>
              <a:rPr lang="en-IN" sz="1800" dirty="0">
                <a:solidFill>
                  <a:srgbClr val="FF0000"/>
                </a:solidFill>
              </a:rPr>
              <a:t>- Train-Test Gap: Minimal</a:t>
            </a:r>
          </a:p>
          <a:p>
            <a:r>
              <a:rPr lang="en-IN" sz="1800" dirty="0">
                <a:solidFill>
                  <a:srgbClr val="FF0000"/>
                </a:solidFill>
              </a:rPr>
              <a:t>- Generalization: Improved</a:t>
            </a:r>
          </a:p>
        </p:txBody>
      </p:sp>
    </p:spTree>
    <p:extLst>
      <p:ext uri="{BB962C8B-B14F-4D97-AF65-F5344CB8AC3E}">
        <p14:creationId xmlns:p14="http://schemas.microsoft.com/office/powerpoint/2010/main" val="339893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82708-863E-0D54-BBF7-D27DA1FE7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BIAS-VARIANCE VISUALIZATION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99E6FD-A830-2ADF-58F2-3E5EE3934F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2091"/>
            <a:ext cx="5781675" cy="3301788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47555F-C343-5127-7A2A-6D538889A998}"/>
              </a:ext>
            </a:extLst>
          </p:cNvPr>
          <p:cNvSpPr/>
          <p:nvPr/>
        </p:nvSpPr>
        <p:spPr>
          <a:xfrm>
            <a:off x="7285703" y="1091381"/>
            <a:ext cx="3755923" cy="50046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rgbClr val="FF0000"/>
                </a:solidFill>
              </a:rPr>
              <a:t>📉 UNDERSTANDING THE TRADEOFF</a:t>
            </a:r>
          </a:p>
          <a:p>
            <a:pPr algn="ctr"/>
            <a:endParaRPr lang="en-IN" sz="2000" dirty="0">
              <a:solidFill>
                <a:srgbClr val="FF0000"/>
              </a:solidFill>
            </a:endParaRPr>
          </a:p>
          <a:p>
            <a:pPr algn="ctr"/>
            <a:r>
              <a:rPr lang="en-IN" sz="2000" dirty="0">
                <a:solidFill>
                  <a:srgbClr val="FF0000"/>
                </a:solidFill>
              </a:rPr>
              <a:t>Shallow Trees (Depth 1-3):</a:t>
            </a:r>
          </a:p>
          <a:p>
            <a:pPr algn="ctr"/>
            <a:r>
              <a:rPr lang="en-IN" sz="2000" dirty="0">
                <a:solidFill>
                  <a:srgbClr val="FF0000"/>
                </a:solidFill>
              </a:rPr>
              <a:t>- Can't capture patterns → Underfitting</a:t>
            </a:r>
          </a:p>
          <a:p>
            <a:pPr algn="ctr"/>
            <a:endParaRPr lang="en-IN" sz="2000" dirty="0">
              <a:solidFill>
                <a:srgbClr val="FF0000"/>
              </a:solidFill>
            </a:endParaRPr>
          </a:p>
          <a:p>
            <a:pPr algn="ctr"/>
            <a:r>
              <a:rPr lang="en-IN" sz="2000" dirty="0">
                <a:solidFill>
                  <a:srgbClr val="FF0000"/>
                </a:solidFill>
              </a:rPr>
              <a:t>Deep Trees (Depth 15+):</a:t>
            </a:r>
          </a:p>
          <a:p>
            <a:pPr algn="ctr"/>
            <a:r>
              <a:rPr lang="en-IN" sz="2000" dirty="0">
                <a:solidFill>
                  <a:srgbClr val="FF0000"/>
                </a:solidFill>
              </a:rPr>
              <a:t>- Memorize training data → Overfitting</a:t>
            </a:r>
          </a:p>
          <a:p>
            <a:pPr algn="ctr"/>
            <a:endParaRPr lang="en-IN" sz="2000" dirty="0">
              <a:solidFill>
                <a:srgbClr val="FF0000"/>
              </a:solidFill>
            </a:endParaRPr>
          </a:p>
          <a:p>
            <a:pPr algn="ctr"/>
            <a:r>
              <a:rPr lang="en-IN" sz="2000" dirty="0">
                <a:solidFill>
                  <a:srgbClr val="FF0000"/>
                </a:solidFill>
              </a:rPr>
              <a:t>Optimal Trees (Depth 4-7):</a:t>
            </a:r>
          </a:p>
          <a:p>
            <a:pPr algn="ctr"/>
            <a:r>
              <a:rPr lang="en-IN" sz="2000" dirty="0">
                <a:solidFill>
                  <a:srgbClr val="FF0000"/>
                </a:solidFill>
              </a:rPr>
              <a:t>- Learn patterns, generalize well ✅</a:t>
            </a:r>
          </a:p>
        </p:txBody>
      </p:sp>
    </p:spTree>
    <p:extLst>
      <p:ext uri="{BB962C8B-B14F-4D97-AF65-F5344CB8AC3E}">
        <p14:creationId xmlns:p14="http://schemas.microsoft.com/office/powerpoint/2010/main" val="356233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54CD-0F58-BCF4-3885-49BEB013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552703"/>
            <a:ext cx="9906000" cy="1382156"/>
          </a:xfrm>
        </p:spPr>
        <p:txBody>
          <a:bodyPr/>
          <a:lstStyle/>
          <a:p>
            <a:r>
              <a:rPr lang="en-IN" b="1" dirty="0"/>
              <a:t>RANDOM FOREST 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CA94C3-9F67-3177-C8B4-A843BE6972A5}"/>
              </a:ext>
            </a:extLst>
          </p:cNvPr>
          <p:cNvSpPr/>
          <p:nvPr/>
        </p:nvSpPr>
        <p:spPr>
          <a:xfrm>
            <a:off x="1170038" y="1934859"/>
            <a:ext cx="4601498" cy="36182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🌲 WHY RANDOM FOREST?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Decision Tree Problems:</a:t>
            </a:r>
          </a:p>
          <a:p>
            <a:pPr algn="ctr"/>
            <a:r>
              <a:rPr lang="en-IN" dirty="0"/>
              <a:t>❌ High variance</a:t>
            </a:r>
          </a:p>
          <a:p>
            <a:pPr algn="ctr"/>
            <a:r>
              <a:rPr lang="en-IN" dirty="0"/>
              <a:t>❌ Overfitting prone</a:t>
            </a:r>
          </a:p>
          <a:p>
            <a:pPr algn="ctr"/>
            <a:r>
              <a:rPr lang="en-IN" dirty="0"/>
              <a:t>❌ Unstable predictions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Random Forest Solution:</a:t>
            </a:r>
          </a:p>
          <a:p>
            <a:pPr algn="ctr"/>
            <a:r>
              <a:rPr lang="en-IN" dirty="0"/>
              <a:t>✅ Bootstrap Aggregating (Bagging)</a:t>
            </a:r>
          </a:p>
          <a:p>
            <a:pPr algn="ctr"/>
            <a:r>
              <a:rPr lang="en-IN" dirty="0"/>
              <a:t>✅ Random feature selection</a:t>
            </a:r>
          </a:p>
          <a:p>
            <a:pPr algn="ctr"/>
            <a:r>
              <a:rPr lang="en-IN" dirty="0"/>
              <a:t>✅ Ensemble voting reduces variance</a:t>
            </a:r>
          </a:p>
          <a:p>
            <a:pPr algn="ctr"/>
            <a:r>
              <a:rPr lang="en-IN" dirty="0"/>
              <a:t>✅ Stable, robust predictions</a:t>
            </a:r>
          </a:p>
          <a:p>
            <a:pPr algn="ctr"/>
            <a:r>
              <a:rPr lang="en-IN" dirty="0"/>
              <a:t>✅ Better generalization</a:t>
            </a:r>
          </a:p>
        </p:txBody>
      </p:sp>
      <p:pic>
        <p:nvPicPr>
          <p:cNvPr id="1028" name="Picture 4" descr="Guide to Random Forest Classification and Regression Algorithms">
            <a:extLst>
              <a:ext uri="{FF2B5EF4-FFF2-40B4-BE49-F238E27FC236}">
                <a16:creationId xmlns:a16="http://schemas.microsoft.com/office/drawing/2014/main" id="{F6AD6802-6CF7-6E54-DF9A-A940FBA37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787" y="1934859"/>
            <a:ext cx="4766187" cy="370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68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60C69-0FBC-2954-13B4-637D86A7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754625"/>
          </a:xfrm>
        </p:spPr>
        <p:txBody>
          <a:bodyPr/>
          <a:lstStyle/>
          <a:p>
            <a:r>
              <a:rPr lang="en-IN" sz="4000" b="1" dirty="0">
                <a:solidFill>
                  <a:schemeClr val="accent4">
                    <a:lumMod val="50000"/>
                  </a:schemeClr>
                </a:solidFill>
              </a:rPr>
              <a:t>RANDOM FOREST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64CAE-92CE-F361-11F4-34E6E50AE1A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494503" y="1592825"/>
            <a:ext cx="4267200" cy="42868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🚀 RANDOM FOREST RESULTS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Baseline Model (100 trees):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- Test Accuracy: 87-89%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- Precision: 0.75-0.80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- Recall: 0.45-0.55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- F1-Score: 0.58-0.65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- AUC-ROC: 0.82-0.85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Improvement over Decision Tree: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- +4-5% accuracy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- Better minority class prediction</a:t>
            </a:r>
          </a:p>
          <a:p>
            <a:pPr marL="0" indent="0">
              <a:buNone/>
            </a:pPr>
            <a:r>
              <a:rPr lang="en-IN" sz="1900" dirty="0">
                <a:solidFill>
                  <a:srgbClr val="FF0000"/>
                </a:solidFill>
              </a:rPr>
              <a:t>- Reduced overfitting significantly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8F6EB3-4A84-EF7B-BD0F-E13D0D419001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445" y="2241755"/>
            <a:ext cx="4375355" cy="3337285"/>
          </a:xfrm>
        </p:spPr>
      </p:pic>
    </p:spTree>
    <p:extLst>
      <p:ext uri="{BB962C8B-B14F-4D97-AF65-F5344CB8AC3E}">
        <p14:creationId xmlns:p14="http://schemas.microsoft.com/office/powerpoint/2010/main" val="40109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F290-E627-993D-AC49-88DD4D2B1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NUMBER OF TREES EXPERIMENT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EFAFEC64-4764-7D49-35C2-5A7A1D588D27}"/>
              </a:ext>
            </a:extLst>
          </p:cNvPr>
          <p:cNvSpPr/>
          <p:nvPr/>
        </p:nvSpPr>
        <p:spPr>
          <a:xfrm>
            <a:off x="2261419" y="1818967"/>
            <a:ext cx="7669162" cy="4326193"/>
          </a:xfrm>
          <a:prstGeom prst="hexago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🔬 OPTIMIZING ENSEMBLE SIZE</a:t>
            </a:r>
          </a:p>
          <a:p>
            <a:pPr algn="ctr"/>
            <a:endParaRPr lang="en-IN" sz="2400" dirty="0"/>
          </a:p>
          <a:p>
            <a:pPr algn="ctr"/>
            <a:r>
              <a:rPr lang="en-IN" sz="2400" dirty="0"/>
              <a:t>Tested: 50, 100, 150, 200, 300 trees</a:t>
            </a:r>
          </a:p>
          <a:p>
            <a:pPr algn="ctr"/>
            <a:endParaRPr lang="en-IN" sz="2400" dirty="0"/>
          </a:p>
          <a:p>
            <a:pPr algn="ctr"/>
            <a:r>
              <a:rPr lang="en-IN" sz="2400" dirty="0"/>
              <a:t>Findings:</a:t>
            </a:r>
          </a:p>
          <a:p>
            <a:pPr algn="ctr"/>
            <a:r>
              <a:rPr lang="en-IN" sz="2400" dirty="0"/>
              <a:t>- Performance stabilizes at 100-150 trees</a:t>
            </a:r>
          </a:p>
          <a:p>
            <a:pPr algn="ctr"/>
            <a:r>
              <a:rPr lang="en-IN" sz="2400" dirty="0"/>
              <a:t>- Diminishing returns beyond 150</a:t>
            </a:r>
          </a:p>
          <a:p>
            <a:pPr algn="ctr"/>
            <a:r>
              <a:rPr lang="en-IN" sz="2400" dirty="0"/>
              <a:t>- Optimal: 100-150 trees (speed vs accuracy)</a:t>
            </a:r>
          </a:p>
          <a:p>
            <a:pPr algn="ctr"/>
            <a:r>
              <a:rPr lang="en-IN" sz="2400" dirty="0"/>
              <a:t>- Train-test gap remains minimal across all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913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1160F-3CCF-5841-2843-02385A61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>
                <a:solidFill>
                  <a:schemeClr val="accent4">
                    <a:lumMod val="50000"/>
                  </a:schemeClr>
                </a:solidFill>
              </a:rPr>
              <a:t>FEATURE IMPORTANCE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1A9860F-0872-D156-8145-76EEE2ACF9CB}"/>
              </a:ext>
            </a:extLst>
          </p:cNvPr>
          <p:cNvSpPr/>
          <p:nvPr/>
        </p:nvSpPr>
        <p:spPr>
          <a:xfrm>
            <a:off x="2231923" y="1730476"/>
            <a:ext cx="7777316" cy="4837471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00" dirty="0"/>
              <a:t>🏆 TOP PREDICTIVE FEATURES</a:t>
            </a:r>
          </a:p>
          <a:p>
            <a:pPr algn="ctr"/>
            <a:endParaRPr lang="en-GB" sz="2100" dirty="0"/>
          </a:p>
          <a:p>
            <a:pPr algn="ctr"/>
            <a:r>
              <a:rPr lang="en-GB" sz="2100" dirty="0"/>
              <a:t>Random Forest Feature Ranking:</a:t>
            </a:r>
          </a:p>
          <a:p>
            <a:pPr algn="ctr"/>
            <a:r>
              <a:rPr lang="en-GB" sz="2100" dirty="0"/>
              <a:t>1. Monthly Income (0.18-0.22)</a:t>
            </a:r>
          </a:p>
          <a:p>
            <a:pPr algn="ctr"/>
            <a:r>
              <a:rPr lang="en-GB" sz="2100" dirty="0"/>
              <a:t>2. Age (0.12-0.15)</a:t>
            </a:r>
          </a:p>
          <a:p>
            <a:pPr algn="ctr"/>
            <a:r>
              <a:rPr lang="en-GB" sz="2100" dirty="0"/>
              <a:t>3. Total Working Years (0.10-0.12)</a:t>
            </a:r>
          </a:p>
          <a:p>
            <a:pPr algn="ctr"/>
            <a:r>
              <a:rPr lang="en-GB" sz="2100" dirty="0"/>
              <a:t>4. Years at Company (0.08-0.10)</a:t>
            </a:r>
          </a:p>
          <a:p>
            <a:pPr algn="ctr"/>
            <a:r>
              <a:rPr lang="en-GB" sz="2100" dirty="0"/>
              <a:t>5. Years in Current Role (0.07-0.09)</a:t>
            </a:r>
          </a:p>
          <a:p>
            <a:pPr algn="ctr"/>
            <a:endParaRPr lang="en-GB" sz="2100" dirty="0"/>
          </a:p>
          <a:p>
            <a:pPr algn="ctr"/>
            <a:r>
              <a:rPr lang="en-GB" sz="2100" dirty="0"/>
              <a:t>Key Insight:</a:t>
            </a:r>
          </a:p>
          <a:p>
            <a:pPr algn="ctr"/>
            <a:r>
              <a:rPr lang="en-GB" sz="2100" dirty="0"/>
              <a:t>- Financial &amp; tenure factors dominate</a:t>
            </a:r>
          </a:p>
          <a:p>
            <a:pPr algn="ctr"/>
            <a:r>
              <a:rPr lang="en-GB" sz="2100" dirty="0"/>
              <a:t>- </a:t>
            </a:r>
            <a:r>
              <a:rPr lang="en-GB" sz="2100" dirty="0" err="1"/>
              <a:t>OverTime</a:t>
            </a:r>
            <a:r>
              <a:rPr lang="en-GB" sz="2100" dirty="0"/>
              <a:t> significant despite encoding</a:t>
            </a:r>
          </a:p>
          <a:p>
            <a:pPr algn="ctr"/>
            <a:r>
              <a:rPr lang="en-GB" sz="2100" dirty="0"/>
              <a:t>- More stable than single Decision Tree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157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2B2C-C0D4-744D-3905-D06EA791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73626"/>
            <a:ext cx="9906000" cy="1022555"/>
          </a:xfrm>
        </p:spPr>
        <p:txBody>
          <a:bodyPr/>
          <a:lstStyle/>
          <a:p>
            <a:r>
              <a:rPr lang="en-IN" sz="4800" b="1" dirty="0"/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96E7-D2C5-E51B-F8D2-6445A978D68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8198" y="1612489"/>
            <a:ext cx="4795686" cy="42346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⚙️ GRIDSEARCHCV OPTIMIZATION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Parameters Tuned:</a:t>
            </a:r>
          </a:p>
          <a:p>
            <a:pPr marL="171450" indent="-171450">
              <a:buFontTx/>
              <a:buChar char="-"/>
            </a:pPr>
            <a:r>
              <a:rPr lang="en-IN" sz="1400" dirty="0" err="1">
                <a:solidFill>
                  <a:srgbClr val="FF0000"/>
                </a:solidFill>
              </a:rPr>
              <a:t>n_estimators</a:t>
            </a:r>
            <a:r>
              <a:rPr lang="en-IN" sz="1400" dirty="0">
                <a:solidFill>
                  <a:srgbClr val="FF0000"/>
                </a:solidFill>
              </a:rPr>
              <a:t>: [100, 150, 200]</a:t>
            </a:r>
          </a:p>
          <a:p>
            <a:pPr marL="171450" indent="-171450">
              <a:buFontTx/>
              <a:buChar char="-"/>
            </a:pPr>
            <a:r>
              <a:rPr lang="en-IN" sz="1400" dirty="0">
                <a:solidFill>
                  <a:srgbClr val="FF0000"/>
                </a:solidFill>
              </a:rPr>
              <a:t>- </a:t>
            </a:r>
            <a:r>
              <a:rPr lang="en-IN" sz="1400" dirty="0" err="1">
                <a:solidFill>
                  <a:srgbClr val="FF0000"/>
                </a:solidFill>
              </a:rPr>
              <a:t>max_depth</a:t>
            </a:r>
            <a:r>
              <a:rPr lang="en-IN" sz="1400" dirty="0">
                <a:solidFill>
                  <a:srgbClr val="FF0000"/>
                </a:solidFill>
              </a:rPr>
              <a:t>: [5, 7, 10, None]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- </a:t>
            </a:r>
            <a:r>
              <a:rPr lang="en-IN" sz="1400" dirty="0" err="1">
                <a:solidFill>
                  <a:srgbClr val="FF0000"/>
                </a:solidFill>
              </a:rPr>
              <a:t>min_samples_split</a:t>
            </a:r>
            <a:r>
              <a:rPr lang="en-IN" sz="1400" dirty="0">
                <a:solidFill>
                  <a:srgbClr val="FF0000"/>
                </a:solidFill>
              </a:rPr>
              <a:t>: [5, 10, 20]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- </a:t>
            </a:r>
            <a:r>
              <a:rPr lang="en-IN" sz="1400" dirty="0" err="1">
                <a:solidFill>
                  <a:srgbClr val="FF0000"/>
                </a:solidFill>
              </a:rPr>
              <a:t>min_samples_leaf</a:t>
            </a:r>
            <a:r>
              <a:rPr lang="en-IN" sz="1400" dirty="0">
                <a:solidFill>
                  <a:srgbClr val="FF0000"/>
                </a:solidFill>
              </a:rPr>
              <a:t>: [2, 5, 10]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- </a:t>
            </a:r>
            <a:r>
              <a:rPr lang="en-IN" sz="1400" dirty="0" err="1">
                <a:solidFill>
                  <a:srgbClr val="FF0000"/>
                </a:solidFill>
              </a:rPr>
              <a:t>max_features</a:t>
            </a:r>
            <a:r>
              <a:rPr lang="en-IN" sz="1400" dirty="0">
                <a:solidFill>
                  <a:srgbClr val="FF0000"/>
                </a:solidFill>
              </a:rPr>
              <a:t>: ['sqrt', 'log2']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Search Space: 216 combinations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Cross-Validation: 3-fold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Class Imbalance: Handled with </a:t>
            </a:r>
            <a:r>
              <a:rPr lang="en-IN" sz="1400" dirty="0" err="1">
                <a:solidFill>
                  <a:srgbClr val="FF0000"/>
                </a:solidFill>
              </a:rPr>
              <a:t>class_weight</a:t>
            </a:r>
            <a:r>
              <a:rPr lang="en-IN" sz="1400" dirty="0">
                <a:solidFill>
                  <a:srgbClr val="FF0000"/>
                </a:solidFill>
              </a:rPr>
              <a:t>='balanced'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Training Time: ~56 seconds (648 models!)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7FB389-6401-93EA-FCFB-B0549B5E1569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118" y="1789471"/>
            <a:ext cx="4414682" cy="3791419"/>
          </a:xfrm>
        </p:spPr>
      </p:pic>
    </p:spTree>
    <p:extLst>
      <p:ext uri="{BB962C8B-B14F-4D97-AF65-F5344CB8AC3E}">
        <p14:creationId xmlns:p14="http://schemas.microsoft.com/office/powerpoint/2010/main" val="197053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8CD8-943C-C7F4-8132-CE1150AB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FINAL MODEL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5D044-A891-152B-7B5D-690C29C34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07690"/>
            <a:ext cx="5157787" cy="1071716"/>
          </a:xfrm>
        </p:spPr>
        <p:txBody>
          <a:bodyPr>
            <a:noAutofit/>
          </a:bodyPr>
          <a:lstStyle/>
          <a:p>
            <a:r>
              <a:rPr lang="en-IN" sz="2800" dirty="0"/>
              <a:t>🎯 PRODUCTION MODEL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E6F90-3412-E638-E426-AA153FB37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79406"/>
            <a:ext cx="5157787" cy="3529781"/>
          </a:xfrm>
        </p:spPr>
        <p:txBody>
          <a:bodyPr>
            <a:normAutofit fontScale="62500" lnSpcReduction="2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🎯 PRODUCTION MODEL RESULTS</a:t>
            </a:r>
          </a:p>
          <a:p>
            <a:r>
              <a:rPr lang="en-IN" dirty="0">
                <a:solidFill>
                  <a:srgbClr val="FF0000"/>
                </a:solidFill>
              </a:rPr>
              <a:t>Final Tuned Random Forest:</a:t>
            </a:r>
          </a:p>
          <a:p>
            <a:r>
              <a:rPr lang="en-IN" dirty="0">
                <a:solidFill>
                  <a:srgbClr val="FF0000"/>
                </a:solidFill>
              </a:rPr>
              <a:t>- Test Accuracy: 88-91%</a:t>
            </a:r>
          </a:p>
          <a:p>
            <a:r>
              <a:rPr lang="en-IN" dirty="0">
                <a:solidFill>
                  <a:srgbClr val="FF0000"/>
                </a:solidFill>
              </a:rPr>
              <a:t>- Precision: 0.78-0.82</a:t>
            </a:r>
          </a:p>
          <a:p>
            <a:r>
              <a:rPr lang="en-IN" dirty="0">
                <a:solidFill>
                  <a:srgbClr val="FF0000"/>
                </a:solidFill>
              </a:rPr>
              <a:t>- Recall: 0.55-0.65</a:t>
            </a:r>
          </a:p>
          <a:p>
            <a:r>
              <a:rPr lang="en-IN" dirty="0">
                <a:solidFill>
                  <a:srgbClr val="FF0000"/>
                </a:solidFill>
              </a:rPr>
              <a:t>- F1-Score: 0.65-0.72</a:t>
            </a:r>
          </a:p>
          <a:p>
            <a:r>
              <a:rPr lang="en-IN" dirty="0">
                <a:solidFill>
                  <a:srgbClr val="FF0000"/>
                </a:solidFill>
              </a:rPr>
              <a:t>- AUC-ROC: 0.85-0.88</a:t>
            </a:r>
          </a:p>
          <a:p>
            <a:r>
              <a:rPr lang="en-IN" dirty="0">
                <a:solidFill>
                  <a:srgbClr val="FF0000"/>
                </a:solidFill>
              </a:rPr>
              <a:t>Cross-Validation (5-fold):</a:t>
            </a:r>
          </a:p>
          <a:p>
            <a:r>
              <a:rPr lang="en-IN" dirty="0">
                <a:solidFill>
                  <a:srgbClr val="FF0000"/>
                </a:solidFill>
              </a:rPr>
              <a:t>- Mean F1: 0.66-0.70</a:t>
            </a:r>
          </a:p>
          <a:p>
            <a:r>
              <a:rPr lang="en-IN" dirty="0">
                <a:solidFill>
                  <a:srgbClr val="FF0000"/>
                </a:solidFill>
              </a:rPr>
              <a:t>- Std Dev: ±0.02-0.03</a:t>
            </a:r>
          </a:p>
          <a:p>
            <a:r>
              <a:rPr lang="en-IN" dirty="0">
                <a:solidFill>
                  <a:srgbClr val="FF0000"/>
                </a:solidFill>
              </a:rPr>
              <a:t>- Consistent performance ✅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A19E8-6A2A-BA41-F6CA-DD41F64FF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340281"/>
          </a:xfrm>
        </p:spPr>
        <p:txBody>
          <a:bodyPr>
            <a:normAutofit fontScale="70000" lnSpcReduction="20000"/>
          </a:bodyPr>
          <a:lstStyle/>
          <a:p>
            <a:r>
              <a:rPr lang="en-IN" sz="2800" dirty="0"/>
              <a:t>Confusion Matrix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05DF28-C3B2-5080-DE0F-C6128C2ACBC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79407"/>
            <a:ext cx="4945626" cy="3687096"/>
          </a:xfrm>
        </p:spPr>
      </p:pic>
    </p:spTree>
    <p:extLst>
      <p:ext uri="{BB962C8B-B14F-4D97-AF65-F5344CB8AC3E}">
        <p14:creationId xmlns:p14="http://schemas.microsoft.com/office/powerpoint/2010/main" val="236072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15EC-FCA0-622B-911F-059E8CEE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941438"/>
          </a:xfrm>
        </p:spPr>
        <p:txBody>
          <a:bodyPr/>
          <a:lstStyle/>
          <a:p>
            <a:r>
              <a:rPr lang="en-IN" sz="4400" b="1" dirty="0"/>
              <a:t>MODEL COMPARISON TABLE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4C329186-7FAE-177A-33CB-9CBE4427B9C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54967350"/>
              </p:ext>
            </p:extLst>
          </p:nvPr>
        </p:nvGraphicFramePr>
        <p:xfrm>
          <a:off x="838200" y="1573161"/>
          <a:ext cx="10515600" cy="3805085"/>
        </p:xfrm>
        <a:graphic>
          <a:graphicData uri="http://schemas.openxmlformats.org/drawingml/2006/table">
            <a:tbl>
              <a:tblPr firstRow="1" bandRow="1">
                <a:tableStyleId>{8FD4443E-F989-4FC4-A0C8-D5A2AF1F390B}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223813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484732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84119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33353819"/>
                    </a:ext>
                  </a:extLst>
                </a:gridCol>
              </a:tblGrid>
              <a:tr h="761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AUC-ROC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367187"/>
                  </a:ext>
                </a:extLst>
              </a:tr>
              <a:tr h="761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Decision Tree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0.82 - 0.85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0.45 – 0.50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0.75 – 0.78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290655"/>
                  </a:ext>
                </a:extLst>
              </a:tr>
              <a:tr h="761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Decision Tree (</a:t>
                      </a:r>
                      <a:r>
                        <a:rPr lang="en-IN" sz="2400" dirty="0" err="1"/>
                        <a:t>Opt</a:t>
                      </a:r>
                      <a:r>
                        <a:rPr lang="en-IN" sz="2400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0.85 - 0.87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0.52 – 0.58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0.80 – 0.82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444396"/>
                  </a:ext>
                </a:extLst>
              </a:tr>
              <a:tr h="761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Random Forest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0.87 – 0.89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0.58 – 0.65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0.82 – 0.85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962059"/>
                  </a:ext>
                </a:extLst>
              </a:tr>
              <a:tr h="76101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Random Forest (</a:t>
                      </a:r>
                      <a:r>
                        <a:rPr lang="en-IN" sz="2400" dirty="0" err="1"/>
                        <a:t>Opt</a:t>
                      </a:r>
                      <a:r>
                        <a:rPr lang="en-IN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0.88 – 0.91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0.65 – 0.72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0.85 – 0.88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408364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71C989-0A50-7B56-DA95-C2A1F6703756}"/>
              </a:ext>
            </a:extLst>
          </p:cNvPr>
          <p:cNvSpPr/>
          <p:nvPr/>
        </p:nvSpPr>
        <p:spPr>
          <a:xfrm>
            <a:off x="4159046" y="5624052"/>
            <a:ext cx="5112774" cy="70054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✅ Final Model: 9-12% improvement over baseline</a:t>
            </a:r>
          </a:p>
        </p:txBody>
      </p:sp>
    </p:spTree>
    <p:extLst>
      <p:ext uri="{BB962C8B-B14F-4D97-AF65-F5344CB8AC3E}">
        <p14:creationId xmlns:p14="http://schemas.microsoft.com/office/powerpoint/2010/main" val="361822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117" y="185196"/>
            <a:ext cx="6930838" cy="1348636"/>
          </a:xfrm>
          <a:noFill/>
        </p:spPr>
        <p:txBody>
          <a:bodyPr/>
          <a:lstStyle/>
          <a:p>
            <a:r>
              <a:rPr lang="en-IN" b="1" dirty="0"/>
              <a:t>KEY INSIGHTS &amp; RECOMMENDATIONS</a:t>
            </a:r>
            <a:endParaRPr lang="en-US" b="1" dirty="0"/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70117" y="1671484"/>
            <a:ext cx="6461910" cy="4326193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The analysis identified key factors influencing employee attrition, including low monthly income, frequent overtime, low job satisfaction, poor work-life balance, and limited work experience. Younger employees and those with higher workloads were found to be more likely to leave, indicating the importance of both financial and workplace well-being in employee retention.</a:t>
            </a:r>
          </a:p>
          <a:p>
            <a:r>
              <a:rPr lang="en-GB" sz="2000" dirty="0">
                <a:solidFill>
                  <a:srgbClr val="FF0000"/>
                </a:solidFill>
              </a:rPr>
              <a:t>Based on these insights, organizations should focus on improving compensation, monitoring overtime, promoting work-life balance, and supporting early-career employees. A production-ready prediction model has been developed and can be integrated into HR systems, with quarterly retraining recommended to ensure consistent performance and long-term impact.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DE210DB5-FE10-9165-FC75-485FEE4B683D}"/>
              </a:ext>
            </a:extLst>
          </p:cNvPr>
          <p:cNvSpPr/>
          <p:nvPr/>
        </p:nvSpPr>
        <p:spPr>
          <a:xfrm>
            <a:off x="1337187" y="1002890"/>
            <a:ext cx="9674943" cy="4581833"/>
          </a:xfrm>
          <a:prstGeom prst="horizontalScroll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ea typeface="+mj-lt"/>
                <a:cs typeface="+mj-lt"/>
              </a:rPr>
              <a:t>CONTACT &amp; PROFILE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b="1" dirty="0">
                <a:ea typeface="+mj-lt"/>
                <a:cs typeface="+mj-lt"/>
              </a:rPr>
              <a:t>📧 Email: </a:t>
            </a:r>
            <a:r>
              <a:rPr lang="en-US" sz="2800" b="1" dirty="0">
                <a:ea typeface="+mj-lt"/>
                <a:cs typeface="+mj-lt"/>
                <a:hlinkClick r:id="rId2"/>
              </a:rPr>
              <a:t>gmohapatra.info.3107@gmail.com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b="1" dirty="0">
                <a:ea typeface="+mj-lt"/>
                <a:cs typeface="+mj-lt"/>
              </a:rPr>
              <a:t>💼 LinkedIn: </a:t>
            </a:r>
            <a:r>
              <a:rPr lang="en-US" sz="2800" b="1" dirty="0">
                <a:ea typeface="+mj-lt"/>
                <a:cs typeface="+mj-lt"/>
                <a:hlinkClick r:id="rId3"/>
              </a:rPr>
              <a:t>https://www.linkedin.com/in/gouragopal-mohapatra</a:t>
            </a:r>
            <a:br>
              <a:rPr lang="en-US" sz="2800" b="1" dirty="0">
                <a:ea typeface="+mj-lt"/>
                <a:cs typeface="+mj-lt"/>
              </a:rPr>
            </a:br>
            <a:r>
              <a:rPr lang="en-US" sz="2800" b="1" dirty="0">
                <a:ea typeface="+mj-lt"/>
                <a:cs typeface="+mj-lt"/>
              </a:rPr>
              <a:t>🐙 GitHub: https://github.com/GOURGOPAL618</a:t>
            </a:r>
            <a:endParaRPr lang="en-US" sz="2800" b="1" dirty="0"/>
          </a:p>
          <a:p>
            <a:pPr algn="ctr"/>
            <a:r>
              <a:rPr lang="en-US" sz="2800" b="1" dirty="0">
                <a:ea typeface="+mj-lt"/>
                <a:cs typeface="+mj-lt"/>
              </a:rPr>
              <a:t>🎓 Role: Engineering Student | ML &amp; Data Science Enthusiast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739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2286941"/>
          </a:xfrm>
          <a:noFill/>
        </p:spPr>
        <p:txBody>
          <a:bodyPr anchor="b"/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992" y="3429000"/>
            <a:ext cx="4902843" cy="1595284"/>
          </a:xfrm>
          <a:noFill/>
        </p:spPr>
        <p:txBody>
          <a:bodyPr anchor="t">
            <a:noAutofit/>
          </a:bodyPr>
          <a:lstStyle/>
          <a:p>
            <a:r>
              <a:rPr lang="en-GB" sz="4000" dirty="0">
                <a:latin typeface="+mj-lt"/>
              </a:rPr>
              <a:t>“A true engineer does not chase results — he chases clarity. Results follow automatically.”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293</TotalTime>
  <Words>1482</Words>
  <Application>Microsoft Office PowerPoint</Application>
  <PresentationFormat>Widescreen</PresentationFormat>
  <Paragraphs>251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Times New Roman</vt:lpstr>
      <vt:lpstr>Univers Condensed Light</vt:lpstr>
      <vt:lpstr>Walbaum Display Light</vt:lpstr>
      <vt:lpstr>AngleLinesVTI</vt:lpstr>
      <vt:lpstr>🏢 EMPLOYEE ATTRITION PREDICTION Using Decision Trees &amp; Random Forests </vt:lpstr>
      <vt:lpstr>NAME – GOURAGOPAL MOHAPATRA Role - ML Engineer | Data Science Enthusiast DATE – JANUARY 2026</vt:lpstr>
      <vt:lpstr>"Machine learning is the science of getting computers to learn without being explicitly programmed." — Andrew Ng  🤖 Empowering Data-Driven Decisions</vt:lpstr>
      <vt:lpstr>AGENDA</vt:lpstr>
      <vt:lpstr>INTRODUCTION</vt:lpstr>
      <vt:lpstr>PROBLEM STATEMENT</vt:lpstr>
      <vt:lpstr>DATASET OVERVIEW</vt:lpstr>
      <vt:lpstr>METHODOLOGY</vt:lpstr>
      <vt:lpstr>EXPLORATORY DATA ANALYSIS</vt:lpstr>
      <vt:lpstr>FEATURE ANALYSIS - NUMERICAL</vt:lpstr>
      <vt:lpstr>FEATURE ANALYSIS - CATEGORICAL</vt:lpstr>
      <vt:lpstr>FEATURE ANALYSIS - SATISFACTION</vt:lpstr>
      <vt:lpstr>BASELINE DECISION TREE</vt:lpstr>
      <vt:lpstr>OVERFITTING ANALYSIS</vt:lpstr>
      <vt:lpstr>BIAS-VARIANCE VISUALIZATION</vt:lpstr>
      <vt:lpstr>RANDOM FOREST INTRODUCTION</vt:lpstr>
      <vt:lpstr>RANDOM FOREST PERFORMANCE</vt:lpstr>
      <vt:lpstr>NUMBER OF TREES EXPERIMENT</vt:lpstr>
      <vt:lpstr>FEATURE IMPORTANCE</vt:lpstr>
      <vt:lpstr>HYPERPARAMETER TUNING</vt:lpstr>
      <vt:lpstr>FINAL MODEL PERFORMANCE</vt:lpstr>
      <vt:lpstr>MODEL COMPARISON TABLE</vt:lpstr>
      <vt:lpstr>KEY INSIGHTS &amp; RECOMMENDATIONS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GOURGOPAL MOHAPATRA</cp:lastModifiedBy>
  <cp:revision>3</cp:revision>
  <dcterms:created xsi:type="dcterms:W3CDTF">2026-01-30T19:23:38Z</dcterms:created>
  <dcterms:modified xsi:type="dcterms:W3CDTF">2026-01-31T14:54:22Z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